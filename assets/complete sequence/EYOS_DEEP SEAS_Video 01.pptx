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ExtraLight"/>
      <p:regular r:id="rId29"/>
      <p:bold r:id="rId30"/>
      <p:italic r:id="rId31"/>
      <p:boldItalic r:id="rId32"/>
    </p:embeddedFont>
    <p:embeddedFont>
      <p:font typeface="Roboto"/>
      <p:regular r:id="rId33"/>
      <p:bold r:id="rId34"/>
      <p:italic r:id="rId35"/>
      <p:boldItalic r:id="rId36"/>
    </p:embeddedFont>
    <p:embeddedFont>
      <p:font typeface="Roboto Medium"/>
      <p:regular r:id="rId37"/>
      <p:bold r:id="rId38"/>
      <p:italic r:id="rId39"/>
      <p:boldItalic r:id="rId40"/>
    </p:embeddedFont>
    <p:embeddedFont>
      <p:font typeface="EB Garamond Medium"/>
      <p:regular r:id="rId41"/>
      <p:bold r:id="rId42"/>
      <p:italic r:id="rId43"/>
      <p:boldItalic r:id="rId44"/>
    </p:embeddedFont>
    <p:embeddedFont>
      <p:font typeface="EB Garamond"/>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Italic.fntdata"/><Relationship Id="rId20" Type="http://schemas.openxmlformats.org/officeDocument/2006/relationships/slide" Target="slides/slide15.xml"/><Relationship Id="rId42" Type="http://schemas.openxmlformats.org/officeDocument/2006/relationships/font" Target="fonts/EBGaramondMedium-bold.fntdata"/><Relationship Id="rId41" Type="http://schemas.openxmlformats.org/officeDocument/2006/relationships/font" Target="fonts/EBGaramondMedium-regular.fntdata"/><Relationship Id="rId22" Type="http://schemas.openxmlformats.org/officeDocument/2006/relationships/slide" Target="slides/slide17.xml"/><Relationship Id="rId44" Type="http://schemas.openxmlformats.org/officeDocument/2006/relationships/font" Target="fonts/EBGaramondMedium-boldItalic.fntdata"/><Relationship Id="rId21" Type="http://schemas.openxmlformats.org/officeDocument/2006/relationships/slide" Target="slides/slide16.xml"/><Relationship Id="rId43" Type="http://schemas.openxmlformats.org/officeDocument/2006/relationships/font" Target="fonts/EBGaramondMedium-italic.fntdata"/><Relationship Id="rId24" Type="http://schemas.openxmlformats.org/officeDocument/2006/relationships/slide" Target="slides/slide19.xml"/><Relationship Id="rId46" Type="http://schemas.openxmlformats.org/officeDocument/2006/relationships/font" Target="fonts/EBGaramond-bold.fntdata"/><Relationship Id="rId23" Type="http://schemas.openxmlformats.org/officeDocument/2006/relationships/slide" Target="slides/slide18.xml"/><Relationship Id="rId45" Type="http://schemas.openxmlformats.org/officeDocument/2006/relationships/font" Target="fonts/EBGaramon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EBGaramond-boldItalic.fntdata"/><Relationship Id="rId25" Type="http://schemas.openxmlformats.org/officeDocument/2006/relationships/slide" Target="slides/slide20.xml"/><Relationship Id="rId47" Type="http://schemas.openxmlformats.org/officeDocument/2006/relationships/font" Target="fonts/EBGaramon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Extra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ExtraLight-italic.fntdata"/><Relationship Id="rId30" Type="http://schemas.openxmlformats.org/officeDocument/2006/relationships/font" Target="fonts/RobotoExtraLight-bold.fntdata"/><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font" Target="fonts/RobotoExtraLight-boldItalic.fntdata"/><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37" Type="http://schemas.openxmlformats.org/officeDocument/2006/relationships/font" Target="fonts/RobotoMedium-regular.fntdata"/><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39" Type="http://schemas.openxmlformats.org/officeDocument/2006/relationships/font" Target="fonts/RobotoMedium-italic.fntdata"/><Relationship Id="rId16" Type="http://schemas.openxmlformats.org/officeDocument/2006/relationships/slide" Target="slides/slide11.xml"/><Relationship Id="rId38" Type="http://schemas.openxmlformats.org/officeDocument/2006/relationships/font" Target="fonts/RobotoMediu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e28f9bfc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e28f9bfc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28f9bfcd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28f9bfcd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28f9bfcd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28f9bfcd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28f9bfc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28f9bfc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28f9bfcd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28f9bfcd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28f9bfcd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28f9bfcd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28f9bfcda_0_2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85" name="Google Shape;85;g3e28f9bfcda_0_2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86" name="Google Shape;86;g3e28f9bfcda_0_2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28f9bfcda_0_31: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91" name="Google Shape;91;g3e28f9bfcda_0_3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92" name="Google Shape;92;g3e28f9bfcda_0_3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28f9bfcda_0_3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97" name="Google Shape;97;g3e28f9bfcda_0_3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98" name="Google Shape;98;g3e28f9bfcda_0_3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28f9bfcda_0_4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04" name="Google Shape;104;g3e28f9bfcda_0_4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05" name="Google Shape;105;g3e28f9bfcda_0_4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e28f9bfcda_0_47: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10" name="Google Shape;110;g3e28f9bfcda_0_47: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11" name="Google Shape;111;g3e28f9bfcda_0_47: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28f9bfcda_0_5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16" name="Google Shape;116;g3e28f9bfcda_0_5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17" name="Google Shape;117;g3e28f9bfcda_0_5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28f9bfcda_0_59: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24" name="Google Shape;124;g3e28f9bfcda_0_59: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25" name="Google Shape;125;g3e28f9bfcda_0_59: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28f9bfcda_0_6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31" name="Google Shape;131;g3e28f9bfcda_0_6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32" name="Google Shape;132;g3e28f9bfcda_0_6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28f9bfcd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28f9bfcd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28f9bfcda_0_8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50" name="Google Shape;150;g3e28f9bfcda_0_8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51" name="Google Shape;151;g3e28f9bfcda_0_8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28f9bfcd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28f9bfcd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28f9bfcda_0_9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65" name="Google Shape;165;g3e28f9bfcda_0_9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66" name="Google Shape;166;g3e28f9bfcda_0_9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28f9bfcd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28f9bfcda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28f9bfcda_0_105: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77" name="Google Shape;177;g3e28f9bfcda_0_105: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78" name="Google Shape;178;g3e28f9bfcda_0_105: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28f9bfcd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28f9bfcd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28f9bfcda_0_116: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90" name="Google Shape;190;g3e28f9bfcda_0_116: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91" name="Google Shape;191;g3e28f9bfcda_0_116: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28f9bfcda_0_12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197" name="Google Shape;197;g3e28f9bfcda_0_12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a:p>
        </p:txBody>
      </p:sp>
      <p:sp>
        <p:nvSpPr>
          <p:cNvPr id="198" name="Google Shape;198;g3e28f9bfcda_0_12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hyperlink" Target="https://www.cnn.com/2024/04/13/middleeast/iran-drones-attack-israel-intl-latam/index.html" TargetMode="External"/><Relationship Id="rId5" Type="http://schemas.openxmlformats.org/officeDocument/2006/relationships/hyperlink" Target="https://www.cnn.com/2024/04/13/middleeast/iran-drones-attack-israel-intl-latam/index.html" TargetMode="External"/><Relationship Id="rId6" Type="http://schemas.openxmlformats.org/officeDocument/2006/relationships/image" Target="../media/image5.png"/><Relationship Id="rId7"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 name="Shape 54"/>
        <p:cNvGrpSpPr/>
        <p:nvPr/>
      </p:nvGrpSpPr>
      <p:grpSpPr>
        <a:xfrm>
          <a:off x="0" y="0"/>
          <a:ext cx="0" cy="0"/>
          <a:chOff x="0" y="0"/>
          <a:chExt cx="0" cy="0"/>
        </a:xfrm>
      </p:grpSpPr>
      <p:sp>
        <p:nvSpPr>
          <p:cNvPr id="55" name="Google Shape;55;p14"/>
          <p:cNvSpPr txBox="1"/>
          <p:nvPr/>
        </p:nvSpPr>
        <p:spPr>
          <a:xfrm>
            <a:off x="303088" y="231725"/>
            <a:ext cx="1494900" cy="2096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400">
                <a:solidFill>
                  <a:srgbClr val="EFEFEF"/>
                </a:solidFill>
                <a:latin typeface="EB Garamond Medium"/>
                <a:ea typeface="EB Garamond Medium"/>
                <a:cs typeface="EB Garamond Medium"/>
                <a:sym typeface="EB Garamond Medium"/>
              </a:rPr>
              <a:t>Deep seas  \  systems \  strategy \  interaction\</a:t>
            </a:r>
            <a:endParaRPr sz="1400">
              <a:solidFill>
                <a:srgbClr val="EFEFEF"/>
              </a:solidFill>
              <a:latin typeface="EB Garamond Medium"/>
              <a:ea typeface="EB Garamond Medium"/>
              <a:cs typeface="EB Garamond Medium"/>
              <a:sym typeface="EB Garamond Medium"/>
            </a:endParaRPr>
          </a:p>
          <a:p>
            <a:pPr indent="0" lvl="0" marL="0" rtl="0" algn="r">
              <a:spcBef>
                <a:spcPts val="0"/>
              </a:spcBef>
              <a:spcAft>
                <a:spcPts val="0"/>
              </a:spcAft>
              <a:buNone/>
            </a:pPr>
            <a:r>
              <a:t/>
            </a:r>
            <a:endParaRPr sz="1800">
              <a:solidFill>
                <a:srgbClr val="EFEFEF"/>
              </a:solidFill>
              <a:latin typeface="EB Garamond Medium"/>
              <a:ea typeface="EB Garamond Medium"/>
              <a:cs typeface="EB Garamond Medium"/>
              <a:sym typeface="EB Garamond Medium"/>
            </a:endParaRPr>
          </a:p>
          <a:p>
            <a:pPr indent="0" lvl="0" marL="0" rtl="0" algn="l">
              <a:spcBef>
                <a:spcPts val="0"/>
              </a:spcBef>
              <a:spcAft>
                <a:spcPts val="0"/>
              </a:spcAft>
              <a:buNone/>
            </a:pPr>
            <a:r>
              <a:rPr lang="en" sz="1400">
                <a:solidFill>
                  <a:srgbClr val="EFEFEF"/>
                </a:solidFill>
                <a:latin typeface="EB Garamond Medium"/>
                <a:ea typeface="EB Garamond Medium"/>
                <a:cs typeface="EB Garamond Medium"/>
                <a:sym typeface="EB Garamond Medium"/>
              </a:rPr>
              <a:t>Systems Dramaturgy.</a:t>
            </a:r>
            <a:endParaRPr sz="1400">
              <a:solidFill>
                <a:srgbClr val="EFEFEF"/>
              </a:solidFill>
              <a:latin typeface="EB Garamond Medium"/>
              <a:ea typeface="EB Garamond Medium"/>
              <a:cs typeface="EB Garamond Medium"/>
              <a:sym typeface="EB Garamond Medium"/>
            </a:endParaRPr>
          </a:p>
        </p:txBody>
      </p:sp>
      <p:sp>
        <p:nvSpPr>
          <p:cNvPr id="56" name="Google Shape;56;p14"/>
          <p:cNvSpPr txBox="1"/>
          <p:nvPr/>
        </p:nvSpPr>
        <p:spPr>
          <a:xfrm>
            <a:off x="8179675" y="231725"/>
            <a:ext cx="683400" cy="4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EFEFEF"/>
                </a:solidFill>
                <a:latin typeface="EB Garamond Medium"/>
                <a:ea typeface="EB Garamond Medium"/>
                <a:cs typeface="EB Garamond Medium"/>
                <a:sym typeface="EB Garamond Medium"/>
              </a:rPr>
              <a:t>varad.</a:t>
            </a:r>
            <a:endParaRPr sz="1300">
              <a:solidFill>
                <a:schemeClr val="dk2"/>
              </a:solidFill>
              <a:latin typeface="EB Garamond Medium"/>
              <a:ea typeface="EB Garamond Medium"/>
              <a:cs typeface="EB Garamond Medium"/>
              <a:sym typeface="EB Garamond Medium"/>
            </a:endParaRPr>
          </a:p>
        </p:txBody>
      </p:sp>
      <p:sp>
        <p:nvSpPr>
          <p:cNvPr id="57" name="Google Shape;57;p14"/>
          <p:cNvSpPr txBox="1"/>
          <p:nvPr/>
        </p:nvSpPr>
        <p:spPr>
          <a:xfrm>
            <a:off x="8059675" y="4398938"/>
            <a:ext cx="803400" cy="546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300">
                <a:solidFill>
                  <a:srgbClr val="EFEFEF"/>
                </a:solidFill>
                <a:latin typeface="EB Garamond Medium"/>
                <a:ea typeface="EB Garamond Medium"/>
                <a:cs typeface="EB Garamond Medium"/>
                <a:sym typeface="EB Garamond Medium"/>
              </a:rPr>
              <a:t>mscdp.gsapp.</a:t>
            </a:r>
            <a:endParaRPr sz="1300">
              <a:solidFill>
                <a:schemeClr val="dk2"/>
              </a:solidFill>
              <a:latin typeface="EB Garamond Medium"/>
              <a:ea typeface="EB Garamond Medium"/>
              <a:cs typeface="EB Garamond Medium"/>
              <a:sym typeface="EB Garamond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1" name="Shape 61"/>
        <p:cNvGrpSpPr/>
        <p:nvPr/>
      </p:nvGrpSpPr>
      <p:grpSpPr>
        <a:xfrm>
          <a:off x="0" y="0"/>
          <a:ext cx="0" cy="0"/>
          <a:chOff x="0" y="0"/>
          <a:chExt cx="0" cy="0"/>
        </a:xfrm>
      </p:grpSpPr>
      <p:sp>
        <p:nvSpPr>
          <p:cNvPr id="62" name="Google Shape;62;p15"/>
          <p:cNvSpPr/>
          <p:nvPr/>
        </p:nvSpPr>
        <p:spPr>
          <a:xfrm>
            <a:off x="3135600" y="1769400"/>
            <a:ext cx="2872800" cy="1604700"/>
          </a:xfrm>
          <a:prstGeom prst="rect">
            <a:avLst/>
          </a:prstGeom>
          <a:noFill/>
          <a:ln>
            <a:noFill/>
          </a:ln>
        </p:spPr>
        <p:txBody>
          <a:bodyPr anchorCtr="0" anchor="t" bIns="12700" lIns="12700" spcFirstLastPara="1" rIns="12700" wrap="square" tIns="12700">
            <a:noAutofit/>
          </a:bodyPr>
          <a:lstStyle/>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"Ships move through corridors 33 kilometers wide.</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20% of the world's oil. Every day.</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Built to understand trade.</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120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Ended up understanding power."</a:t>
            </a:r>
            <a:endParaRPr sz="1300">
              <a:solidFill>
                <a:schemeClr val="lt1"/>
              </a:solidFill>
              <a:latin typeface="EB Garamond Medium"/>
              <a:ea typeface="EB Garamond Medium"/>
              <a:cs typeface="EB Garamond Medium"/>
              <a:sym typeface="EB Garamond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6" title="Artboard 13.png"/>
          <p:cNvPicPr preferRelativeResize="0"/>
          <p:nvPr/>
        </p:nvPicPr>
        <p:blipFill rotWithShape="1">
          <a:blip r:embed="rId3">
            <a:alphaModFix/>
          </a:blip>
          <a:srcRect b="0" l="0" r="0" t="0"/>
          <a:stretch/>
        </p:blipFill>
        <p:spPr>
          <a:xfrm>
            <a:off x="-73425" y="0"/>
            <a:ext cx="9217426" cy="51848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7" title="Artboard 14.png"/>
          <p:cNvPicPr preferRelativeResize="0"/>
          <p:nvPr/>
        </p:nvPicPr>
        <p:blipFill rotWithShape="1">
          <a:blip r:embed="rId3">
            <a:alphaModFix/>
          </a:blip>
          <a:srcRect b="0" l="0" r="0" t="0"/>
          <a:stretch/>
        </p:blipFill>
        <p:spPr>
          <a:xfrm>
            <a:off x="-73425" y="0"/>
            <a:ext cx="9217426" cy="518481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6" name="Shape 76"/>
        <p:cNvGrpSpPr/>
        <p:nvPr/>
      </p:nvGrpSpPr>
      <p:grpSpPr>
        <a:xfrm>
          <a:off x="0" y="0"/>
          <a:ext cx="0" cy="0"/>
          <a:chOff x="0" y="0"/>
          <a:chExt cx="0" cy="0"/>
        </a:xfrm>
      </p:grpSpPr>
      <p:sp>
        <p:nvSpPr>
          <p:cNvPr id="77" name="Google Shape;77;p18"/>
          <p:cNvSpPr/>
          <p:nvPr/>
        </p:nvSpPr>
        <p:spPr>
          <a:xfrm>
            <a:off x="3135600" y="1542150"/>
            <a:ext cx="2872800" cy="2059200"/>
          </a:xfrm>
          <a:prstGeom prst="rect">
            <a:avLst/>
          </a:prstGeom>
          <a:noFill/>
          <a:ln>
            <a:noFill/>
          </a:ln>
        </p:spPr>
        <p:txBody>
          <a:bodyPr anchorCtr="0" anchor="t" bIns="12700" lIns="12700" spcFirstLastPara="1" rIns="12700" wrap="square" tIns="12700">
            <a:noAutofit/>
          </a:bodyPr>
          <a:lstStyle/>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"April 2024. Iran attacks Israel.</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$155 million had already been bet on whether it would happen.</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The market knew before the missiles launched.</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120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The physical event was almost irrelevant by the time it happened."</a:t>
            </a:r>
            <a:endParaRPr sz="1300">
              <a:solidFill>
                <a:schemeClr val="lt1"/>
              </a:solidFill>
              <a:latin typeface="EB Garamond Medium"/>
              <a:ea typeface="EB Garamond Medium"/>
              <a:cs typeface="EB Garamond Medium"/>
              <a:sym typeface="EB Garamond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1" name="Shape 81"/>
        <p:cNvGrpSpPr/>
        <p:nvPr/>
      </p:nvGrpSpPr>
      <p:grpSpPr>
        <a:xfrm>
          <a:off x="0" y="0"/>
          <a:ext cx="0" cy="0"/>
          <a:chOff x="0" y="0"/>
          <a:chExt cx="0" cy="0"/>
        </a:xfrm>
      </p:grpSpPr>
      <p:pic>
        <p:nvPicPr>
          <p:cNvPr id="82" name="Google Shape;82;p19"/>
          <p:cNvPicPr preferRelativeResize="0"/>
          <p:nvPr/>
        </p:nvPicPr>
        <p:blipFill>
          <a:blip r:embed="rId3">
            <a:alphaModFix/>
          </a:blip>
          <a:stretch>
            <a:fillRect/>
          </a:stretch>
        </p:blipFill>
        <p:spPr>
          <a:xfrm>
            <a:off x="2182138" y="921338"/>
            <a:ext cx="4779713" cy="33008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7" name="Shape 87"/>
        <p:cNvGrpSpPr/>
        <p:nvPr/>
      </p:nvGrpSpPr>
      <p:grpSpPr>
        <a:xfrm>
          <a:off x="0" y="0"/>
          <a:ext cx="0" cy="0"/>
          <a:chOff x="0" y="0"/>
          <a:chExt cx="0" cy="0"/>
        </a:xfrm>
      </p:grpSpPr>
      <p:pic>
        <p:nvPicPr>
          <p:cNvPr id="88" name="Google Shape;88;p20"/>
          <p:cNvPicPr preferRelativeResize="0"/>
          <p:nvPr/>
        </p:nvPicPr>
        <p:blipFill>
          <a:blip r:embed="rId3">
            <a:alphaModFix/>
          </a:blip>
          <a:stretch>
            <a:fillRect/>
          </a:stretch>
        </p:blipFill>
        <p:spPr>
          <a:xfrm>
            <a:off x="2249705" y="660712"/>
            <a:ext cx="4644587" cy="3822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3" name="Shape 93"/>
        <p:cNvGrpSpPr/>
        <p:nvPr/>
      </p:nvGrpSpPr>
      <p:grpSpPr>
        <a:xfrm>
          <a:off x="0" y="0"/>
          <a:ext cx="0" cy="0"/>
          <a:chOff x="0" y="0"/>
          <a:chExt cx="0" cy="0"/>
        </a:xfrm>
      </p:grpSpPr>
      <p:pic>
        <p:nvPicPr>
          <p:cNvPr id="94" name="Google Shape;94;p21"/>
          <p:cNvPicPr preferRelativeResize="0"/>
          <p:nvPr/>
        </p:nvPicPr>
        <p:blipFill>
          <a:blip r:embed="rId3">
            <a:alphaModFix/>
          </a:blip>
          <a:stretch>
            <a:fillRect/>
          </a:stretch>
        </p:blipFill>
        <p:spPr>
          <a:xfrm>
            <a:off x="2139206" y="899538"/>
            <a:ext cx="4865589" cy="33444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9" name="Shape 99"/>
        <p:cNvGrpSpPr/>
        <p:nvPr/>
      </p:nvGrpSpPr>
      <p:grpSpPr>
        <a:xfrm>
          <a:off x="0" y="0"/>
          <a:ext cx="0" cy="0"/>
          <a:chOff x="0" y="0"/>
          <a:chExt cx="0" cy="0"/>
        </a:xfrm>
      </p:grpSpPr>
      <p:pic>
        <p:nvPicPr>
          <p:cNvPr id="100" name="Google Shape;100;p22"/>
          <p:cNvPicPr preferRelativeResize="0"/>
          <p:nvPr/>
        </p:nvPicPr>
        <p:blipFill>
          <a:blip r:embed="rId3">
            <a:alphaModFix/>
          </a:blip>
          <a:stretch>
            <a:fillRect/>
          </a:stretch>
        </p:blipFill>
        <p:spPr>
          <a:xfrm>
            <a:off x="549356" y="1574497"/>
            <a:ext cx="3471513" cy="1994500"/>
          </a:xfrm>
          <a:prstGeom prst="rect">
            <a:avLst/>
          </a:prstGeom>
          <a:noFill/>
          <a:ln>
            <a:noFill/>
          </a:ln>
        </p:spPr>
      </p:pic>
      <p:pic>
        <p:nvPicPr>
          <p:cNvPr id="101" name="Google Shape;101;p22"/>
          <p:cNvPicPr preferRelativeResize="0"/>
          <p:nvPr/>
        </p:nvPicPr>
        <p:blipFill>
          <a:blip r:embed="rId4">
            <a:alphaModFix/>
          </a:blip>
          <a:stretch>
            <a:fillRect/>
          </a:stretch>
        </p:blipFill>
        <p:spPr>
          <a:xfrm>
            <a:off x="4186919" y="1102506"/>
            <a:ext cx="4407728" cy="29384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6" name="Shape 106"/>
        <p:cNvGrpSpPr/>
        <p:nvPr/>
      </p:nvGrpSpPr>
      <p:grpSpPr>
        <a:xfrm>
          <a:off x="0" y="0"/>
          <a:ext cx="0" cy="0"/>
          <a:chOff x="0" y="0"/>
          <a:chExt cx="0" cy="0"/>
        </a:xfrm>
      </p:grpSpPr>
      <p:pic>
        <p:nvPicPr>
          <p:cNvPr id="107" name="Google Shape;107;p23"/>
          <p:cNvPicPr preferRelativeResize="0"/>
          <p:nvPr/>
        </p:nvPicPr>
        <p:blipFill>
          <a:blip r:embed="rId3">
            <a:alphaModFix/>
          </a:blip>
          <a:stretch>
            <a:fillRect/>
          </a:stretch>
        </p:blipFill>
        <p:spPr>
          <a:xfrm>
            <a:off x="1435400" y="987013"/>
            <a:ext cx="6273200" cy="31694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2" name="Shape 112"/>
        <p:cNvGrpSpPr/>
        <p:nvPr/>
      </p:nvGrpSpPr>
      <p:grpSpPr>
        <a:xfrm>
          <a:off x="0" y="0"/>
          <a:ext cx="0" cy="0"/>
          <a:chOff x="0" y="0"/>
          <a:chExt cx="0" cy="0"/>
        </a:xfrm>
      </p:grpSpPr>
      <p:pic>
        <p:nvPicPr>
          <p:cNvPr id="113" name="Google Shape;113;p24"/>
          <p:cNvPicPr preferRelativeResize="0"/>
          <p:nvPr/>
        </p:nvPicPr>
        <p:blipFill>
          <a:blip r:embed="rId3">
            <a:alphaModFix/>
          </a:blip>
          <a:stretch>
            <a:fillRect/>
          </a:stretch>
        </p:blipFill>
        <p:spPr>
          <a:xfrm>
            <a:off x="1424156" y="919451"/>
            <a:ext cx="6295690" cy="3304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8" name="Shape 118"/>
        <p:cNvGrpSpPr/>
        <p:nvPr/>
      </p:nvGrpSpPr>
      <p:grpSpPr>
        <a:xfrm>
          <a:off x="0" y="0"/>
          <a:ext cx="0" cy="0"/>
          <a:chOff x="0" y="0"/>
          <a:chExt cx="0" cy="0"/>
        </a:xfrm>
      </p:grpSpPr>
      <p:pic>
        <p:nvPicPr>
          <p:cNvPr id="119" name="Google Shape;119;p25"/>
          <p:cNvPicPr preferRelativeResize="0"/>
          <p:nvPr/>
        </p:nvPicPr>
        <p:blipFill>
          <a:blip r:embed="rId3">
            <a:alphaModFix/>
          </a:blip>
          <a:stretch>
            <a:fillRect/>
          </a:stretch>
        </p:blipFill>
        <p:spPr>
          <a:xfrm>
            <a:off x="1016456" y="19050"/>
            <a:ext cx="7111093" cy="5105400"/>
          </a:xfrm>
          <a:prstGeom prst="rect">
            <a:avLst/>
          </a:prstGeom>
          <a:noFill/>
          <a:ln>
            <a:noFill/>
          </a:ln>
        </p:spPr>
      </p:pic>
      <p:pic>
        <p:nvPicPr>
          <p:cNvPr id="120" name="Google Shape;120;p25"/>
          <p:cNvPicPr preferRelativeResize="0"/>
          <p:nvPr/>
        </p:nvPicPr>
        <p:blipFill>
          <a:blip r:embed="rId4">
            <a:alphaModFix/>
          </a:blip>
          <a:stretch>
            <a:fillRect/>
          </a:stretch>
        </p:blipFill>
        <p:spPr>
          <a:xfrm>
            <a:off x="3080700" y="1640188"/>
            <a:ext cx="1339400" cy="1339400"/>
          </a:xfrm>
          <a:prstGeom prst="rect">
            <a:avLst/>
          </a:prstGeom>
          <a:noFill/>
          <a:ln>
            <a:noFill/>
          </a:ln>
        </p:spPr>
      </p:pic>
      <p:pic>
        <p:nvPicPr>
          <p:cNvPr id="121" name="Google Shape;121;p25"/>
          <p:cNvPicPr preferRelativeResize="0"/>
          <p:nvPr/>
        </p:nvPicPr>
        <p:blipFill>
          <a:blip r:embed="rId5">
            <a:alphaModFix/>
          </a:blip>
          <a:stretch>
            <a:fillRect/>
          </a:stretch>
        </p:blipFill>
        <p:spPr>
          <a:xfrm>
            <a:off x="4724400" y="1820181"/>
            <a:ext cx="2047551" cy="97941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6" name="Shape 126"/>
        <p:cNvGrpSpPr/>
        <p:nvPr/>
      </p:nvGrpSpPr>
      <p:grpSpPr>
        <a:xfrm>
          <a:off x="0" y="0"/>
          <a:ext cx="0" cy="0"/>
          <a:chOff x="0" y="0"/>
          <a:chExt cx="0" cy="0"/>
        </a:xfrm>
      </p:grpSpPr>
      <p:sp>
        <p:nvSpPr>
          <p:cNvPr id="127" name="Google Shape;127;p26"/>
          <p:cNvSpPr txBox="1"/>
          <p:nvPr/>
        </p:nvSpPr>
        <p:spPr>
          <a:xfrm>
            <a:off x="3824550" y="1375475"/>
            <a:ext cx="1494900" cy="38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rgbClr val="EFEFEF"/>
                </a:solidFill>
                <a:latin typeface="EB Garamond"/>
                <a:ea typeface="EB Garamond"/>
                <a:cs typeface="EB Garamond"/>
                <a:sym typeface="EB Garamond"/>
              </a:rPr>
              <a:t>&lt;why?&gt;</a:t>
            </a:r>
            <a:endParaRPr b="1" sz="1500">
              <a:solidFill>
                <a:srgbClr val="EFEFEF"/>
              </a:solidFill>
              <a:latin typeface="EB Garamond"/>
              <a:ea typeface="EB Garamond"/>
              <a:cs typeface="EB Garamond"/>
              <a:sym typeface="EB Garamond"/>
            </a:endParaRPr>
          </a:p>
        </p:txBody>
      </p:sp>
      <p:sp>
        <p:nvSpPr>
          <p:cNvPr id="128" name="Google Shape;128;p26"/>
          <p:cNvSpPr/>
          <p:nvPr/>
        </p:nvSpPr>
        <p:spPr>
          <a:xfrm>
            <a:off x="3135600" y="1950325"/>
            <a:ext cx="2872800" cy="1817700"/>
          </a:xfrm>
          <a:prstGeom prst="rect">
            <a:avLst/>
          </a:prstGeom>
          <a:noFill/>
          <a:ln>
            <a:noFill/>
          </a:ln>
        </p:spPr>
        <p:txBody>
          <a:bodyPr anchorCtr="0" anchor="t" bIns="12700" lIns="12700" spcFirstLastPara="1" rIns="12700" wrap="square" tIns="12700">
            <a:noAutofit/>
          </a:bodyPr>
          <a:lstStyle/>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"The mismatch between who has information and who bears the consequences is right there in the numbers.</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Nobody hid it.</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They just assumed you wouldn't look.</a:t>
            </a:r>
            <a:endParaRPr sz="1300">
              <a:solidFill>
                <a:schemeClr val="lt1"/>
              </a:solidFill>
              <a:latin typeface="EB Garamond Medium"/>
              <a:ea typeface="EB Garamond Medium"/>
              <a:cs typeface="EB Garamond Medium"/>
              <a:sym typeface="EB Garamond Medium"/>
            </a:endParaRPr>
          </a:p>
          <a:p>
            <a:pPr indent="0" lvl="0" marL="0" rtl="0" algn="ctr">
              <a:lnSpc>
                <a:spcPct val="115000"/>
              </a:lnSpc>
              <a:spcBef>
                <a:spcPts val="1200"/>
              </a:spcBef>
              <a:spcAft>
                <a:spcPts val="1200"/>
              </a:spcAft>
              <a:buClr>
                <a:schemeClr val="dk1"/>
              </a:buClr>
              <a:buSzPts val="1100"/>
              <a:buFont typeface="Arial"/>
              <a:buNone/>
            </a:pPr>
            <a:r>
              <a:rPr lang="en" sz="1300">
                <a:solidFill>
                  <a:schemeClr val="lt1"/>
                </a:solidFill>
                <a:latin typeface="EB Garamond Medium"/>
                <a:ea typeface="EB Garamond Medium"/>
                <a:cs typeface="EB Garamond Medium"/>
                <a:sym typeface="EB Garamond Medium"/>
              </a:rPr>
              <a:t>This is what it looks like when you do."</a:t>
            </a:r>
            <a:endParaRPr sz="1300">
              <a:solidFill>
                <a:schemeClr val="lt1"/>
              </a:solidFill>
              <a:latin typeface="EB Garamond Medium"/>
              <a:ea typeface="EB Garamond Medium"/>
              <a:cs typeface="EB Garamond Medium"/>
              <a:sym typeface="EB Garamond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3" name="Shape 133"/>
        <p:cNvGrpSpPr/>
        <p:nvPr/>
      </p:nvGrpSpPr>
      <p:grpSpPr>
        <a:xfrm>
          <a:off x="0" y="0"/>
          <a:ext cx="0" cy="0"/>
          <a:chOff x="0" y="0"/>
          <a:chExt cx="0" cy="0"/>
        </a:xfrm>
      </p:grpSpPr>
      <p:pic>
        <p:nvPicPr>
          <p:cNvPr id="134" name="Google Shape;134;p27"/>
          <p:cNvPicPr preferRelativeResize="0"/>
          <p:nvPr/>
        </p:nvPicPr>
        <p:blipFill>
          <a:blip r:embed="rId3">
            <a:alphaModFix/>
          </a:blip>
          <a:stretch>
            <a:fillRect/>
          </a:stretch>
        </p:blipFill>
        <p:spPr>
          <a:xfrm>
            <a:off x="1853163" y="358650"/>
            <a:ext cx="6406577" cy="3412839"/>
          </a:xfrm>
          <a:prstGeom prst="rect">
            <a:avLst/>
          </a:prstGeom>
          <a:noFill/>
          <a:ln>
            <a:noFill/>
          </a:ln>
        </p:spPr>
      </p:pic>
      <p:sp>
        <p:nvSpPr>
          <p:cNvPr id="135" name="Google Shape;135;p27"/>
          <p:cNvSpPr txBox="1"/>
          <p:nvPr/>
        </p:nvSpPr>
        <p:spPr>
          <a:xfrm>
            <a:off x="890130" y="945588"/>
            <a:ext cx="1155000" cy="923700"/>
          </a:xfrm>
          <a:prstGeom prst="rect">
            <a:avLst/>
          </a:prstGeom>
          <a:noFill/>
          <a:ln cap="flat" cmpd="sng" w="9525">
            <a:solidFill>
              <a:schemeClr val="lt1"/>
            </a:solidFill>
            <a:prstDash val="solid"/>
            <a:round/>
            <a:headEnd len="sm" w="sm" type="none"/>
            <a:tailEnd len="sm" w="sm" type="none"/>
          </a:ln>
        </p:spPr>
        <p:txBody>
          <a:bodyPr anchorCtr="0" anchor="t" bIns="45725" lIns="45725" spcFirstLastPara="1" rIns="45725" wrap="square" tIns="45725">
            <a:spAutoFit/>
          </a:bodyPr>
          <a:lstStyle/>
          <a:p>
            <a:pPr indent="0" lvl="0" marL="0" rtl="0" algn="l">
              <a:spcBef>
                <a:spcPts val="0"/>
              </a:spcBef>
              <a:spcAft>
                <a:spcPts val="0"/>
              </a:spcAft>
              <a:buNone/>
            </a:pPr>
            <a:r>
              <a:rPr lang="en" sz="600">
                <a:solidFill>
                  <a:schemeClr val="lt1"/>
                </a:solidFill>
              </a:rPr>
              <a:t>Iran gave regional countries hosting US military bases 72 hours notice of the imminent attack via diplomatic channels, this happened before any public reporting. That 72-hour window is your insider window. The people who knew were already positioning. </a:t>
            </a:r>
            <a:endParaRPr sz="600">
              <a:solidFill>
                <a:schemeClr val="lt1"/>
              </a:solidFill>
            </a:endParaRPr>
          </a:p>
        </p:txBody>
      </p:sp>
      <p:sp>
        <p:nvSpPr>
          <p:cNvPr id="136" name="Google Shape;136;p27"/>
          <p:cNvSpPr txBox="1"/>
          <p:nvPr/>
        </p:nvSpPr>
        <p:spPr>
          <a:xfrm>
            <a:off x="3976705" y="1774388"/>
            <a:ext cx="1155000" cy="831300"/>
          </a:xfrm>
          <a:prstGeom prst="rect">
            <a:avLst/>
          </a:prstGeom>
          <a:noFill/>
          <a:ln cap="flat" cmpd="sng" w="9525">
            <a:solidFill>
              <a:schemeClr val="lt1"/>
            </a:solidFill>
            <a:prstDash val="solid"/>
            <a:round/>
            <a:headEnd len="sm" w="sm" type="none"/>
            <a:tailEnd len="sm" w="sm" type="none"/>
          </a:ln>
        </p:spPr>
        <p:txBody>
          <a:bodyPr anchorCtr="0" anchor="t" bIns="45725" lIns="45725" spcFirstLastPara="1" rIns="45725" wrap="square" tIns="45725">
            <a:spAutoFit/>
          </a:bodyPr>
          <a:lstStyle/>
          <a:p>
            <a:pPr indent="0" lvl="0" marL="0" rtl="0" algn="l">
              <a:spcBef>
                <a:spcPts val="0"/>
              </a:spcBef>
              <a:spcAft>
                <a:spcPts val="0"/>
              </a:spcAft>
              <a:buNone/>
            </a:pPr>
            <a:r>
              <a:rPr lang="en" sz="600">
                <a:solidFill>
                  <a:schemeClr val="lt1"/>
                </a:solidFill>
              </a:rPr>
              <a:t>Traders put down large sums on potential Israeli and Iranian intervention, including one market whose volume ballooned to $155 million. The market knew. The market was moving money. The physical event had not happened yet. </a:t>
            </a:r>
            <a:endParaRPr sz="600">
              <a:solidFill>
                <a:schemeClr val="lt1"/>
              </a:solidFill>
            </a:endParaRPr>
          </a:p>
        </p:txBody>
      </p:sp>
      <p:sp>
        <p:nvSpPr>
          <p:cNvPr id="137" name="Google Shape;137;p27"/>
          <p:cNvSpPr txBox="1"/>
          <p:nvPr/>
        </p:nvSpPr>
        <p:spPr>
          <a:xfrm>
            <a:off x="6534106" y="3538050"/>
            <a:ext cx="1654800" cy="1246800"/>
          </a:xfrm>
          <a:prstGeom prst="rect">
            <a:avLst/>
          </a:prstGeom>
          <a:noFill/>
          <a:ln cap="flat" cmpd="sng" w="9525">
            <a:solidFill>
              <a:schemeClr val="lt1"/>
            </a:solidFill>
            <a:prstDash val="solid"/>
            <a:round/>
            <a:headEnd len="sm" w="sm" type="none"/>
            <a:tailEnd len="sm" w="sm" type="none"/>
          </a:ln>
        </p:spPr>
        <p:txBody>
          <a:bodyPr anchorCtr="0" anchor="t" bIns="45725" lIns="45725" spcFirstLastPara="1" rIns="45725" wrap="square" tIns="45725">
            <a:spAutoFit/>
          </a:bodyPr>
          <a:lstStyle/>
          <a:p>
            <a:pPr indent="0" lvl="0" marL="0" rtl="0" algn="l">
              <a:lnSpc>
                <a:spcPct val="115000"/>
              </a:lnSpc>
              <a:spcBef>
                <a:spcPts val="600"/>
              </a:spcBef>
              <a:spcAft>
                <a:spcPts val="600"/>
              </a:spcAft>
              <a:buNone/>
            </a:pPr>
            <a:r>
              <a:rPr lang="en" sz="600">
                <a:solidFill>
                  <a:schemeClr val="lt1"/>
                </a:solidFill>
              </a:rPr>
              <a:t>More than 300 projectiles,  including around 170 drones and over 120 ballistic missiles, were fired toward Israel overnight, but 99% were intercepted.</a:t>
            </a:r>
            <a:r>
              <a:rPr lang="en" sz="600">
                <a:solidFill>
                  <a:schemeClr val="lt1"/>
                </a:solidFill>
                <a:uFill>
                  <a:noFill/>
                </a:uFill>
                <a:hlinkClick r:id="rId4">
                  <a:extLst>
                    <a:ext uri="{A12FA001-AC4F-418D-AE19-62706E023703}">
                      <ahyp:hlinkClr val="tx"/>
                    </a:ext>
                  </a:extLst>
                </a:hlinkClick>
              </a:rPr>
              <a:t> </a:t>
            </a:r>
            <a:r>
              <a:rPr lang="en" sz="600" u="sng">
                <a:solidFill>
                  <a:schemeClr val="lt1"/>
                </a:solidFill>
                <a:hlinkClick r:id="rId5">
                  <a:extLst>
                    <a:ext uri="{A12FA001-AC4F-418D-AE19-62706E023703}">
                      <ahyp:hlinkClr val="tx"/>
                    </a:ext>
                  </a:extLst>
                </a:hlinkClick>
              </a:rPr>
              <a:t>CNN</a:t>
            </a:r>
            <a:r>
              <a:rPr lang="en" sz="600">
                <a:solidFill>
                  <a:schemeClr val="lt1"/>
                </a:solidFill>
              </a:rPr>
              <a:t> - Crude prices rose to their highest level in months after the attack, but the response was relatively muted because the market had already priced in the risk. One analyst said directly: "the threat of retaliation has increased the risk, but the response this morning suggests some of that risk had already been priced in."</a:t>
            </a:r>
            <a:endParaRPr sz="600">
              <a:solidFill>
                <a:schemeClr val="lt1"/>
              </a:solidFill>
            </a:endParaRPr>
          </a:p>
        </p:txBody>
      </p:sp>
      <p:pic>
        <p:nvPicPr>
          <p:cNvPr id="138" name="Google Shape;138;p27"/>
          <p:cNvPicPr preferRelativeResize="0"/>
          <p:nvPr/>
        </p:nvPicPr>
        <p:blipFill rotWithShape="1">
          <a:blip r:embed="rId6">
            <a:alphaModFix/>
          </a:blip>
          <a:srcRect b="0" l="11579" r="19212" t="0"/>
          <a:stretch/>
        </p:blipFill>
        <p:spPr>
          <a:xfrm>
            <a:off x="890125" y="1958338"/>
            <a:ext cx="1154851" cy="938977"/>
          </a:xfrm>
          <a:prstGeom prst="rect">
            <a:avLst/>
          </a:prstGeom>
          <a:noFill/>
          <a:ln>
            <a:noFill/>
          </a:ln>
        </p:spPr>
      </p:pic>
      <p:pic>
        <p:nvPicPr>
          <p:cNvPr id="139" name="Google Shape;139;p27"/>
          <p:cNvPicPr preferRelativeResize="0"/>
          <p:nvPr/>
        </p:nvPicPr>
        <p:blipFill rotWithShape="1">
          <a:blip r:embed="rId7">
            <a:alphaModFix/>
          </a:blip>
          <a:srcRect b="0" l="0" r="53862" t="0"/>
          <a:stretch/>
        </p:blipFill>
        <p:spPr>
          <a:xfrm>
            <a:off x="5375658" y="3771488"/>
            <a:ext cx="1049392" cy="10133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3" name="Shape 143"/>
        <p:cNvGrpSpPr/>
        <p:nvPr/>
      </p:nvGrpSpPr>
      <p:grpSpPr>
        <a:xfrm>
          <a:off x="0" y="0"/>
          <a:ext cx="0" cy="0"/>
          <a:chOff x="0" y="0"/>
          <a:chExt cx="0" cy="0"/>
        </a:xfrm>
      </p:grpSpPr>
      <p:sp>
        <p:nvSpPr>
          <p:cNvPr id="144" name="Google Shape;144;p28"/>
          <p:cNvSpPr txBox="1"/>
          <p:nvPr/>
        </p:nvSpPr>
        <p:spPr>
          <a:xfrm>
            <a:off x="2899350" y="1372394"/>
            <a:ext cx="3345300" cy="6927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I didn't invent this.</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I just started looking at it</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long enough to see the shape.</a:t>
            </a:r>
            <a:endParaRPr sz="1300">
              <a:solidFill>
                <a:schemeClr val="lt1"/>
              </a:solidFill>
              <a:latin typeface="EB Garamond Medium"/>
              <a:ea typeface="EB Garamond Medium"/>
              <a:cs typeface="EB Garamond Medium"/>
              <a:sym typeface="EB Garamond Medium"/>
            </a:endParaRPr>
          </a:p>
        </p:txBody>
      </p:sp>
      <p:sp>
        <p:nvSpPr>
          <p:cNvPr id="145" name="Google Shape;145;p28"/>
          <p:cNvSpPr txBox="1"/>
          <p:nvPr/>
        </p:nvSpPr>
        <p:spPr>
          <a:xfrm>
            <a:off x="2899350" y="2145475"/>
            <a:ext cx="3345300" cy="2925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most people never look long enough</a:t>
            </a:r>
            <a:endParaRPr sz="1300">
              <a:solidFill>
                <a:schemeClr val="lt1"/>
              </a:solidFill>
              <a:latin typeface="EB Garamond Medium"/>
              <a:ea typeface="EB Garamond Medium"/>
              <a:cs typeface="EB Garamond Medium"/>
              <a:sym typeface="EB Garamond Medium"/>
            </a:endParaRPr>
          </a:p>
        </p:txBody>
      </p:sp>
      <p:sp>
        <p:nvSpPr>
          <p:cNvPr id="146" name="Google Shape;146;p28"/>
          <p:cNvSpPr txBox="1"/>
          <p:nvPr/>
        </p:nvSpPr>
        <p:spPr>
          <a:xfrm>
            <a:off x="2899350" y="2533656"/>
            <a:ext cx="3345300" cy="6927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Not because they're not smart.</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Because the system doesn't need them to.</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Invisibility is a feature, not a bug.</a:t>
            </a:r>
            <a:endParaRPr sz="1300">
              <a:solidFill>
                <a:schemeClr val="lt1"/>
              </a:solidFill>
              <a:latin typeface="EB Garamond Medium"/>
              <a:ea typeface="EB Garamond Medium"/>
              <a:cs typeface="EB Garamond Medium"/>
              <a:sym typeface="EB Garamond Medium"/>
            </a:endParaRPr>
          </a:p>
        </p:txBody>
      </p:sp>
      <p:sp>
        <p:nvSpPr>
          <p:cNvPr id="147" name="Google Shape;147;p28"/>
          <p:cNvSpPr txBox="1"/>
          <p:nvPr/>
        </p:nvSpPr>
        <p:spPr>
          <a:xfrm>
            <a:off x="2899350" y="3293956"/>
            <a:ext cx="3345300" cy="4926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"The spike is not insight. It's the echo of someone else's trade." </a:t>
            </a:r>
            <a:endParaRPr sz="1300">
              <a:solidFill>
                <a:schemeClr val="lt1"/>
              </a:solidFill>
              <a:latin typeface="EB Garamond Medium"/>
              <a:ea typeface="EB Garamond Medium"/>
              <a:cs typeface="EB Garamond Medium"/>
              <a:sym typeface="EB Garamond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2" name="Shape 152"/>
        <p:cNvGrpSpPr/>
        <p:nvPr/>
      </p:nvGrpSpPr>
      <p:grpSpPr>
        <a:xfrm>
          <a:off x="0" y="0"/>
          <a:ext cx="0" cy="0"/>
          <a:chOff x="0" y="0"/>
          <a:chExt cx="0" cy="0"/>
        </a:xfrm>
      </p:grpSpPr>
      <p:pic>
        <p:nvPicPr>
          <p:cNvPr id="153" name="Google Shape;153;p29"/>
          <p:cNvPicPr preferRelativeResize="0"/>
          <p:nvPr/>
        </p:nvPicPr>
        <p:blipFill>
          <a:blip r:embed="rId3">
            <a:alphaModFix/>
          </a:blip>
          <a:stretch>
            <a:fillRect/>
          </a:stretch>
        </p:blipFill>
        <p:spPr>
          <a:xfrm>
            <a:off x="1944375" y="276475"/>
            <a:ext cx="5255249" cy="3737925"/>
          </a:xfrm>
          <a:prstGeom prst="rect">
            <a:avLst/>
          </a:prstGeom>
          <a:noFill/>
          <a:ln>
            <a:noFill/>
          </a:ln>
        </p:spPr>
      </p:pic>
      <p:sp>
        <p:nvSpPr>
          <p:cNvPr id="154" name="Google Shape;154;p29"/>
          <p:cNvSpPr txBox="1"/>
          <p:nvPr/>
        </p:nvSpPr>
        <p:spPr>
          <a:xfrm>
            <a:off x="2163713" y="4343663"/>
            <a:ext cx="3510300" cy="5235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lang="en" sz="700">
                <a:solidFill>
                  <a:schemeClr val="lt1"/>
                </a:solidFill>
                <a:latin typeface="Roboto"/>
                <a:ea typeface="Roboto"/>
                <a:cs typeface="Roboto"/>
                <a:sym typeface="Roboto"/>
              </a:rPr>
              <a:t>VIX &lt; 20</a:t>
            </a:r>
            <a:r>
              <a:rPr lang="en" sz="700">
                <a:solidFill>
                  <a:schemeClr val="lt1"/>
                </a:solidFill>
                <a:latin typeface="Roboto ExtraLight"/>
                <a:ea typeface="Roboto ExtraLight"/>
                <a:cs typeface="Roboto ExtraLight"/>
                <a:sym typeface="Roboto ExtraLight"/>
              </a:rPr>
              <a:t> → calm, low anxiety, normal conditions</a:t>
            </a:r>
            <a:endParaRPr sz="700">
              <a:solidFill>
                <a:schemeClr val="lt1"/>
              </a:solidFill>
              <a:latin typeface="Roboto ExtraLight"/>
              <a:ea typeface="Roboto ExtraLight"/>
              <a:cs typeface="Roboto ExtraLight"/>
              <a:sym typeface="Roboto ExtraLight"/>
            </a:endParaRPr>
          </a:p>
          <a:p>
            <a:pPr indent="0" lvl="0" marL="0" rtl="0" algn="l">
              <a:spcBef>
                <a:spcPts val="0"/>
              </a:spcBef>
              <a:spcAft>
                <a:spcPts val="0"/>
              </a:spcAft>
              <a:buNone/>
            </a:pPr>
            <a:r>
              <a:rPr b="1" lang="en" sz="700">
                <a:solidFill>
                  <a:schemeClr val="lt1"/>
                </a:solidFill>
                <a:latin typeface="Roboto"/>
                <a:ea typeface="Roboto"/>
                <a:cs typeface="Roboto"/>
                <a:sym typeface="Roboto"/>
              </a:rPr>
              <a:t>VIX 20–30</a:t>
            </a:r>
            <a:r>
              <a:rPr lang="en" sz="700">
                <a:solidFill>
                  <a:schemeClr val="lt1"/>
                </a:solidFill>
                <a:latin typeface="Roboto ExtraLight"/>
                <a:ea typeface="Roboto ExtraLight"/>
                <a:cs typeface="Roboto ExtraLight"/>
                <a:sym typeface="Roboto ExtraLight"/>
              </a:rPr>
              <a:t> → elevated uncertainty, something is happening</a:t>
            </a:r>
            <a:endParaRPr sz="700">
              <a:solidFill>
                <a:schemeClr val="lt1"/>
              </a:solidFill>
              <a:latin typeface="Roboto ExtraLight"/>
              <a:ea typeface="Roboto ExtraLight"/>
              <a:cs typeface="Roboto ExtraLight"/>
              <a:sym typeface="Roboto ExtraLight"/>
            </a:endParaRPr>
          </a:p>
          <a:p>
            <a:pPr indent="0" lvl="0" marL="0" rtl="0" algn="l">
              <a:spcBef>
                <a:spcPts val="0"/>
              </a:spcBef>
              <a:spcAft>
                <a:spcPts val="0"/>
              </a:spcAft>
              <a:buNone/>
            </a:pPr>
            <a:r>
              <a:rPr b="1" lang="en" sz="700">
                <a:solidFill>
                  <a:schemeClr val="lt1"/>
                </a:solidFill>
                <a:latin typeface="Roboto"/>
                <a:ea typeface="Roboto"/>
                <a:cs typeface="Roboto"/>
                <a:sym typeface="Roboto"/>
              </a:rPr>
              <a:t>VIX 30–55</a:t>
            </a:r>
            <a:r>
              <a:rPr lang="en" sz="700">
                <a:solidFill>
                  <a:schemeClr val="lt1"/>
                </a:solidFill>
                <a:latin typeface="Roboto ExtraLight"/>
                <a:ea typeface="Roboto ExtraLight"/>
                <a:cs typeface="Roboto ExtraLight"/>
                <a:sym typeface="Roboto ExtraLight"/>
              </a:rPr>
              <a:t> → genuine fear, crisis conditions (COVID crash hit ~85, 2008 hit ~80)</a:t>
            </a:r>
            <a:endParaRPr sz="700">
              <a:solidFill>
                <a:schemeClr val="lt1"/>
              </a:solidFill>
              <a:latin typeface="Roboto ExtraLight"/>
              <a:ea typeface="Roboto ExtraLight"/>
              <a:cs typeface="Roboto ExtraLight"/>
              <a:sym typeface="Roboto ExtraLight"/>
            </a:endParaRPr>
          </a:p>
          <a:p>
            <a:pPr indent="0" lvl="0" marL="0" rtl="0" algn="l">
              <a:spcBef>
                <a:spcPts val="0"/>
              </a:spcBef>
              <a:spcAft>
                <a:spcPts val="0"/>
              </a:spcAft>
              <a:buNone/>
            </a:pPr>
            <a:r>
              <a:rPr b="1" lang="en" sz="700">
                <a:solidFill>
                  <a:schemeClr val="lt1"/>
                </a:solidFill>
                <a:latin typeface="Roboto"/>
                <a:ea typeface="Roboto"/>
                <a:cs typeface="Roboto"/>
                <a:sym typeface="Roboto"/>
              </a:rPr>
              <a:t>VIX &gt; 55 </a:t>
            </a:r>
            <a:r>
              <a:rPr lang="en" sz="700">
                <a:solidFill>
                  <a:schemeClr val="lt1"/>
                </a:solidFill>
                <a:latin typeface="Roboto ExtraLight"/>
                <a:ea typeface="Roboto ExtraLight"/>
                <a:cs typeface="Roboto ExtraLight"/>
                <a:sym typeface="Roboto ExtraLight"/>
              </a:rPr>
              <a:t>→ extreme panic, rare</a:t>
            </a:r>
            <a:endParaRPr sz="700">
              <a:solidFill>
                <a:schemeClr val="lt1"/>
              </a:solidFill>
              <a:latin typeface="Roboto ExtraLight"/>
              <a:ea typeface="Roboto ExtraLight"/>
              <a:cs typeface="Roboto ExtraLight"/>
              <a:sym typeface="Roboto ExtraLight"/>
            </a:endParaRPr>
          </a:p>
        </p:txBody>
      </p:sp>
      <p:sp>
        <p:nvSpPr>
          <p:cNvPr id="155" name="Google Shape;155;p29"/>
          <p:cNvSpPr txBox="1"/>
          <p:nvPr/>
        </p:nvSpPr>
        <p:spPr>
          <a:xfrm>
            <a:off x="2173800" y="3971675"/>
            <a:ext cx="4796400" cy="3078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rPr b="1" lang="en" sz="700">
                <a:solidFill>
                  <a:schemeClr val="lt1"/>
                </a:solidFill>
                <a:latin typeface="Roboto"/>
                <a:ea typeface="Roboto"/>
                <a:cs typeface="Roboto"/>
                <a:sym typeface="Roboto"/>
              </a:rPr>
              <a:t>VIX on the x-axis is fear. Retail volume on the y-axis is how much ordinary people are buying and selling. The dots slope upward right ,more fear, more trading. </a:t>
            </a:r>
            <a:endParaRPr b="1" sz="700">
              <a:solidFill>
                <a:schemeClr val="lt1"/>
              </a:solidFill>
              <a:latin typeface="Roboto"/>
              <a:ea typeface="Roboto"/>
              <a:cs typeface="Roboto"/>
              <a:sym typeface="Roboto"/>
            </a:endParaRPr>
          </a:p>
        </p:txBody>
      </p:sp>
      <p:sp>
        <p:nvSpPr>
          <p:cNvPr id="156" name="Google Shape;156;p29"/>
          <p:cNvSpPr/>
          <p:nvPr/>
        </p:nvSpPr>
        <p:spPr>
          <a:xfrm>
            <a:off x="5284425" y="821744"/>
            <a:ext cx="1863900" cy="1534500"/>
          </a:xfrm>
          <a:prstGeom prst="rect">
            <a:avLst/>
          </a:prstGeom>
          <a:noFill/>
          <a:ln cap="flat" cmpd="sng" w="9525">
            <a:solidFill>
              <a:srgbClr val="FF0000"/>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0" name="Shape 160"/>
        <p:cNvGrpSpPr/>
        <p:nvPr/>
      </p:nvGrpSpPr>
      <p:grpSpPr>
        <a:xfrm>
          <a:off x="0" y="0"/>
          <a:ext cx="0" cy="0"/>
          <a:chOff x="0" y="0"/>
          <a:chExt cx="0" cy="0"/>
        </a:xfrm>
      </p:grpSpPr>
      <p:sp>
        <p:nvSpPr>
          <p:cNvPr id="161" name="Google Shape;161;p30"/>
          <p:cNvSpPr txBox="1"/>
          <p:nvPr/>
        </p:nvSpPr>
        <p:spPr>
          <a:xfrm>
            <a:off x="2943070" y="1498563"/>
            <a:ext cx="3258000" cy="8928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Same event. Two experiences.</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One group is figuring out what happened.</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The other already knows what comes next.</a:t>
            </a:r>
            <a:endParaRPr sz="1300">
              <a:solidFill>
                <a:schemeClr val="lt1"/>
              </a:solidFill>
              <a:latin typeface="EB Garamond Medium"/>
              <a:ea typeface="EB Garamond Medium"/>
              <a:cs typeface="EB Garamond Medium"/>
              <a:sym typeface="EB Garamond Medium"/>
            </a:endParaRPr>
          </a:p>
        </p:txBody>
      </p:sp>
      <p:sp>
        <p:nvSpPr>
          <p:cNvPr id="162" name="Google Shape;162;p30"/>
          <p:cNvSpPr txBox="1"/>
          <p:nvPr/>
        </p:nvSpPr>
        <p:spPr>
          <a:xfrm>
            <a:off x="2943070" y="2398138"/>
            <a:ext cx="3258000" cy="14931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They're not wrong, exactly.</a:t>
            </a:r>
            <a:endParaRPr b="1" sz="1300">
              <a:solidFill>
                <a:schemeClr val="lt1"/>
              </a:solidFill>
              <a:latin typeface="EB Garamond"/>
              <a:ea typeface="EB Garamond"/>
              <a:cs typeface="EB Garamond"/>
              <a:sym typeface="EB Garamond"/>
            </a:endParaRPr>
          </a:p>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They're just working from</a:t>
            </a:r>
            <a:endParaRPr b="1" sz="1300">
              <a:solidFill>
                <a:schemeClr val="lt1"/>
              </a:solidFill>
              <a:latin typeface="EB Garamond"/>
              <a:ea typeface="EB Garamond"/>
              <a:cs typeface="EB Garamond"/>
              <a:sym typeface="EB Garamond"/>
            </a:endParaRPr>
          </a:p>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the wrong set of facts.</a:t>
            </a:r>
            <a:endParaRPr b="1" sz="1300">
              <a:solidFill>
                <a:schemeClr val="lt1"/>
              </a:solidFill>
              <a:latin typeface="EB Garamond"/>
              <a:ea typeface="EB Garamond"/>
              <a:cs typeface="EB Garamond"/>
              <a:sym typeface="EB Garamond"/>
            </a:endParaRPr>
          </a:p>
          <a:p>
            <a:pPr indent="0" lvl="0" marL="0" rtl="0" algn="ctr">
              <a:spcBef>
                <a:spcPts val="0"/>
              </a:spcBef>
              <a:spcAft>
                <a:spcPts val="0"/>
              </a:spcAft>
              <a:buNone/>
            </a:pPr>
            <a:r>
              <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This is what speculation looks like from the inside:</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it feels exactly like knowledge.</a:t>
            </a:r>
            <a:endParaRPr sz="1300">
              <a:solidFill>
                <a:schemeClr val="lt1"/>
              </a:solidFill>
              <a:latin typeface="EB Garamond Medium"/>
              <a:ea typeface="EB Garamond Medium"/>
              <a:cs typeface="EB Garamond Medium"/>
              <a:sym typeface="EB Garamond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7" name="Shape 167"/>
        <p:cNvGrpSpPr/>
        <p:nvPr/>
      </p:nvGrpSpPr>
      <p:grpSpPr>
        <a:xfrm>
          <a:off x="0" y="0"/>
          <a:ext cx="0" cy="0"/>
          <a:chOff x="0" y="0"/>
          <a:chExt cx="0" cy="0"/>
        </a:xfrm>
      </p:grpSpPr>
      <p:pic>
        <p:nvPicPr>
          <p:cNvPr id="168" name="Google Shape;168;p31"/>
          <p:cNvPicPr preferRelativeResize="0"/>
          <p:nvPr/>
        </p:nvPicPr>
        <p:blipFill>
          <a:blip r:embed="rId3">
            <a:alphaModFix/>
          </a:blip>
          <a:stretch>
            <a:fillRect/>
          </a:stretch>
        </p:blipFill>
        <p:spPr>
          <a:xfrm>
            <a:off x="1482782" y="695636"/>
            <a:ext cx="6178425" cy="37522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2" name="Shape 172"/>
        <p:cNvGrpSpPr/>
        <p:nvPr/>
      </p:nvGrpSpPr>
      <p:grpSpPr>
        <a:xfrm>
          <a:off x="0" y="0"/>
          <a:ext cx="0" cy="0"/>
          <a:chOff x="0" y="0"/>
          <a:chExt cx="0" cy="0"/>
        </a:xfrm>
      </p:grpSpPr>
      <p:sp>
        <p:nvSpPr>
          <p:cNvPr id="173" name="Google Shape;173;p32"/>
          <p:cNvSpPr txBox="1"/>
          <p:nvPr/>
        </p:nvSpPr>
        <p:spPr>
          <a:xfrm>
            <a:off x="2899350" y="2236949"/>
            <a:ext cx="3345300" cy="6927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What if the system showed you the room?</a:t>
            </a:r>
            <a:endParaRPr b="1" sz="1300">
              <a:solidFill>
                <a:schemeClr val="lt1"/>
              </a:solidFill>
              <a:latin typeface="EB Garamond"/>
              <a:ea typeface="EB Garamond"/>
              <a:cs typeface="EB Garamond"/>
              <a:sym typeface="EB Garamond"/>
            </a:endParaRPr>
          </a:p>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What if you were the one who knew first?</a:t>
            </a:r>
            <a:endParaRPr b="1" sz="1300">
              <a:solidFill>
                <a:schemeClr val="lt1"/>
              </a:solidFill>
              <a:latin typeface="EB Garamond"/>
              <a:ea typeface="EB Garamond"/>
              <a:cs typeface="EB Garamond"/>
              <a:sym typeface="EB Garamond"/>
            </a:endParaRPr>
          </a:p>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What would you do with that?</a:t>
            </a:r>
            <a:endParaRPr b="1" sz="1300">
              <a:solidFill>
                <a:schemeClr val="lt1"/>
              </a:solidFill>
              <a:latin typeface="EB Garamond"/>
              <a:ea typeface="EB Garamond"/>
              <a:cs typeface="EB Garamond"/>
              <a:sym typeface="EB Garamond"/>
            </a:endParaRPr>
          </a:p>
        </p:txBody>
      </p:sp>
      <p:sp>
        <p:nvSpPr>
          <p:cNvPr id="174" name="Google Shape;174;p32"/>
          <p:cNvSpPr txBox="1"/>
          <p:nvPr/>
        </p:nvSpPr>
        <p:spPr>
          <a:xfrm>
            <a:off x="1373875" y="2140094"/>
            <a:ext cx="1500000" cy="2154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sz="800">
              <a:solidFill>
                <a:schemeClr val="lt1"/>
              </a:solidFill>
              <a:latin typeface="Roboto Medium"/>
              <a:ea typeface="Roboto Medium"/>
              <a:cs typeface="Roboto Medium"/>
              <a:sym typeface="Roboto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9" name="Shape 179"/>
        <p:cNvGrpSpPr/>
        <p:nvPr/>
      </p:nvGrpSpPr>
      <p:grpSpPr>
        <a:xfrm>
          <a:off x="0" y="0"/>
          <a:ext cx="0" cy="0"/>
          <a:chOff x="0" y="0"/>
          <a:chExt cx="0" cy="0"/>
        </a:xfrm>
      </p:grpSpPr>
      <p:pic>
        <p:nvPicPr>
          <p:cNvPr id="180" name="Google Shape;180;p33"/>
          <p:cNvPicPr preferRelativeResize="0"/>
          <p:nvPr/>
        </p:nvPicPr>
        <p:blipFill>
          <a:blip r:embed="rId3">
            <a:alphaModFix/>
          </a:blip>
          <a:stretch>
            <a:fillRect/>
          </a:stretch>
        </p:blipFill>
        <p:spPr>
          <a:xfrm>
            <a:off x="1909931" y="774969"/>
            <a:ext cx="5324139" cy="3593563"/>
          </a:xfrm>
          <a:prstGeom prst="rect">
            <a:avLst/>
          </a:prstGeom>
          <a:noFill/>
          <a:ln>
            <a:noFill/>
          </a:ln>
        </p:spPr>
      </p:pic>
      <p:sp>
        <p:nvSpPr>
          <p:cNvPr id="181" name="Google Shape;181;p33"/>
          <p:cNvSpPr/>
          <p:nvPr/>
        </p:nvSpPr>
        <p:spPr>
          <a:xfrm>
            <a:off x="4382600" y="994050"/>
            <a:ext cx="3451500" cy="141300"/>
          </a:xfrm>
          <a:prstGeom prst="rect">
            <a:avLst/>
          </a:prstGeom>
          <a:solidFill>
            <a:schemeClr val="dk1"/>
          </a:solidFill>
          <a:ln cap="flat" cmpd="sng" w="4775">
            <a:solidFill>
              <a:schemeClr val="dk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5" name="Shape 185"/>
        <p:cNvGrpSpPr/>
        <p:nvPr/>
      </p:nvGrpSpPr>
      <p:grpSpPr>
        <a:xfrm>
          <a:off x="0" y="0"/>
          <a:ext cx="0" cy="0"/>
          <a:chOff x="0" y="0"/>
          <a:chExt cx="0" cy="0"/>
        </a:xfrm>
      </p:grpSpPr>
      <p:sp>
        <p:nvSpPr>
          <p:cNvPr id="186" name="Google Shape;186;p34"/>
          <p:cNvSpPr txBox="1"/>
          <p:nvPr/>
        </p:nvSpPr>
        <p:spPr>
          <a:xfrm>
            <a:off x="2899350" y="2236949"/>
            <a:ext cx="3345300" cy="6927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What if the system showed you the room?</a:t>
            </a:r>
            <a:endParaRPr b="1" sz="1300">
              <a:solidFill>
                <a:schemeClr val="lt1"/>
              </a:solidFill>
              <a:latin typeface="EB Garamond"/>
              <a:ea typeface="EB Garamond"/>
              <a:cs typeface="EB Garamond"/>
              <a:sym typeface="EB Garamond"/>
            </a:endParaRPr>
          </a:p>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What if you were the one who knew first?</a:t>
            </a:r>
            <a:endParaRPr b="1" sz="1300">
              <a:solidFill>
                <a:schemeClr val="lt1"/>
              </a:solidFill>
              <a:latin typeface="EB Garamond"/>
              <a:ea typeface="EB Garamond"/>
              <a:cs typeface="EB Garamond"/>
              <a:sym typeface="EB Garamond"/>
            </a:endParaRPr>
          </a:p>
          <a:p>
            <a:pPr indent="0" lvl="0" marL="0" rtl="0" algn="ctr">
              <a:spcBef>
                <a:spcPts val="0"/>
              </a:spcBef>
              <a:spcAft>
                <a:spcPts val="0"/>
              </a:spcAft>
              <a:buNone/>
            </a:pPr>
            <a:r>
              <a:rPr b="1" lang="en" sz="1300">
                <a:solidFill>
                  <a:schemeClr val="lt1"/>
                </a:solidFill>
                <a:latin typeface="EB Garamond"/>
                <a:ea typeface="EB Garamond"/>
                <a:cs typeface="EB Garamond"/>
                <a:sym typeface="EB Garamond"/>
              </a:rPr>
              <a:t>What would you do with that?</a:t>
            </a:r>
            <a:endParaRPr b="1" sz="1300">
              <a:solidFill>
                <a:schemeClr val="lt1"/>
              </a:solidFill>
              <a:latin typeface="EB Garamond"/>
              <a:ea typeface="EB Garamond"/>
              <a:cs typeface="EB Garamond"/>
              <a:sym typeface="EB Garamond"/>
            </a:endParaRPr>
          </a:p>
        </p:txBody>
      </p:sp>
      <p:sp>
        <p:nvSpPr>
          <p:cNvPr id="187" name="Google Shape;187;p34"/>
          <p:cNvSpPr txBox="1"/>
          <p:nvPr/>
        </p:nvSpPr>
        <p:spPr>
          <a:xfrm>
            <a:off x="1373875" y="2140094"/>
            <a:ext cx="1500000" cy="215400"/>
          </a:xfrm>
          <a:prstGeom prst="rect">
            <a:avLst/>
          </a:prstGeom>
          <a:noFill/>
          <a:ln>
            <a:noFill/>
          </a:ln>
        </p:spPr>
        <p:txBody>
          <a:bodyPr anchorCtr="0" anchor="t" bIns="45725" lIns="45725" spcFirstLastPara="1" rIns="45725" wrap="square" tIns="45725">
            <a:spAutoFit/>
          </a:bodyPr>
          <a:lstStyle/>
          <a:p>
            <a:pPr indent="0" lvl="0" marL="0" rtl="0" algn="l">
              <a:spcBef>
                <a:spcPts val="0"/>
              </a:spcBef>
              <a:spcAft>
                <a:spcPts val="0"/>
              </a:spcAft>
              <a:buNone/>
            </a:pPr>
            <a:r>
              <a:t/>
            </a:r>
            <a:endParaRPr sz="800">
              <a:solidFill>
                <a:schemeClr val="lt1"/>
              </a:solidFill>
              <a:latin typeface="Roboto Medium"/>
              <a:ea typeface="Roboto Medium"/>
              <a:cs typeface="Roboto Medium"/>
              <a:sym typeface="Roboto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2" name="Shape 192"/>
        <p:cNvGrpSpPr/>
        <p:nvPr/>
      </p:nvGrpSpPr>
      <p:grpSpPr>
        <a:xfrm>
          <a:off x="0" y="0"/>
          <a:ext cx="0" cy="0"/>
          <a:chOff x="0" y="0"/>
          <a:chExt cx="0" cy="0"/>
        </a:xfrm>
      </p:grpSpPr>
      <p:sp>
        <p:nvSpPr>
          <p:cNvPr id="193" name="Google Shape;193;p35"/>
          <p:cNvSpPr txBox="1"/>
          <p:nvPr/>
        </p:nvSpPr>
        <p:spPr>
          <a:xfrm>
            <a:off x="1106426" y="1799250"/>
            <a:ext cx="3354000" cy="1596900"/>
          </a:xfrm>
          <a:prstGeom prst="rect">
            <a:avLst/>
          </a:prstGeom>
          <a:noFill/>
          <a:ln>
            <a:noFill/>
          </a:ln>
        </p:spPr>
        <p:txBody>
          <a:bodyPr anchorCtr="0" anchor="t" bIns="45725" lIns="45725" spcFirstLastPara="1" rIns="45725" wrap="square" tIns="45725">
            <a:spAutoFit/>
          </a:bodyPr>
          <a:lstStyle/>
          <a:p>
            <a:pPr indent="0" lvl="0" marL="0" rtl="0" algn="l">
              <a:lnSpc>
                <a:spcPct val="115000"/>
              </a:lnSpc>
              <a:spcBef>
                <a:spcPts val="600"/>
              </a:spcBef>
              <a:spcAft>
                <a:spcPts val="0"/>
              </a:spcAft>
              <a:buNone/>
            </a:pPr>
            <a:r>
              <a:rPr b="1" lang="en" sz="1300">
                <a:solidFill>
                  <a:schemeClr val="lt1"/>
                </a:solidFill>
                <a:latin typeface="EB Garamond"/>
                <a:ea typeface="EB Garamond"/>
                <a:cs typeface="EB Garamond"/>
                <a:sym typeface="EB Garamond"/>
              </a:rPr>
              <a:t>How do I engage?</a:t>
            </a:r>
            <a:r>
              <a:rPr lang="en" sz="1300">
                <a:solidFill>
                  <a:schemeClr val="lt1"/>
                </a:solidFill>
                <a:latin typeface="EB Garamond Medium"/>
                <a:ea typeface="EB Garamond Medium"/>
                <a:cs typeface="EB Garamond Medium"/>
                <a:sym typeface="EB Garamond Medium"/>
              </a:rPr>
              <a:t>  -  </a:t>
            </a:r>
            <a:endParaRPr sz="1300">
              <a:solidFill>
                <a:schemeClr val="lt1"/>
              </a:solidFill>
              <a:latin typeface="EB Garamond Medium"/>
              <a:ea typeface="EB Garamond Medium"/>
              <a:cs typeface="EB Garamond Medium"/>
              <a:sym typeface="EB Garamond Medium"/>
            </a:endParaRPr>
          </a:p>
          <a:p>
            <a:pPr indent="0" lvl="0" marL="0" rtl="0" algn="l">
              <a:lnSpc>
                <a:spcPct val="115000"/>
              </a:lnSpc>
              <a:spcBef>
                <a:spcPts val="600"/>
              </a:spcBef>
              <a:spcAft>
                <a:spcPts val="0"/>
              </a:spcAft>
              <a:buNone/>
            </a:pPr>
            <a:r>
              <a:rPr b="1" lang="en" sz="1300">
                <a:solidFill>
                  <a:schemeClr val="lt1"/>
                </a:solidFill>
                <a:latin typeface="EB Garamond"/>
                <a:ea typeface="EB Garamond"/>
                <a:cs typeface="EB Garamond"/>
                <a:sym typeface="EB Garamond"/>
              </a:rPr>
              <a:t>Systems dramaturgy</a:t>
            </a:r>
            <a:endParaRPr b="1" sz="1300">
              <a:solidFill>
                <a:schemeClr val="lt1"/>
              </a:solidFill>
              <a:latin typeface="EB Garamond"/>
              <a:ea typeface="EB Garamond"/>
              <a:cs typeface="EB Garamond"/>
              <a:sym typeface="EB Garamond"/>
            </a:endParaRPr>
          </a:p>
          <a:p>
            <a:pPr indent="0" lvl="0" marL="0" rtl="0" algn="l">
              <a:lnSpc>
                <a:spcPct val="115000"/>
              </a:lnSpc>
              <a:spcBef>
                <a:spcPts val="600"/>
              </a:spcBef>
              <a:spcAft>
                <a:spcPts val="600"/>
              </a:spcAft>
              <a:buNone/>
            </a:pPr>
            <a:r>
              <a:rPr lang="en" sz="1300">
                <a:solidFill>
                  <a:schemeClr val="lt1"/>
                </a:solidFill>
                <a:latin typeface="EB Garamond Medium"/>
                <a:ea typeface="EB Garamond Medium"/>
                <a:cs typeface="EB Garamond Medium"/>
                <a:sym typeface="EB Garamond Medium"/>
              </a:rPr>
              <a:t>The practice of designing systems whose structure of experience </a:t>
            </a:r>
            <a:r>
              <a:rPr i="1" lang="en" sz="1300">
                <a:solidFill>
                  <a:schemeClr val="lt1"/>
                </a:solidFill>
                <a:latin typeface="EB Garamond Medium"/>
                <a:ea typeface="EB Garamond Medium"/>
                <a:cs typeface="EB Garamond Medium"/>
                <a:sym typeface="EB Garamond Medium"/>
              </a:rPr>
              <a:t>is</a:t>
            </a:r>
            <a:r>
              <a:rPr lang="en" sz="1300">
                <a:solidFill>
                  <a:schemeClr val="lt1"/>
                </a:solidFill>
                <a:latin typeface="EB Garamond Medium"/>
                <a:ea typeface="EB Garamond Medium"/>
                <a:cs typeface="EB Garamond Medium"/>
                <a:sym typeface="EB Garamond Medium"/>
              </a:rPr>
              <a:t> the argument, so the person inside it doesn't need to be told what it means. They've already felt it.</a:t>
            </a:r>
            <a:endParaRPr i="1" sz="1300">
              <a:solidFill>
                <a:schemeClr val="lt1"/>
              </a:solidFill>
              <a:latin typeface="EB Garamond Medium"/>
              <a:ea typeface="EB Garamond Medium"/>
              <a:cs typeface="EB Garamond Medium"/>
              <a:sym typeface="EB Garamond Medium"/>
            </a:endParaRPr>
          </a:p>
        </p:txBody>
      </p:sp>
      <p:pic>
        <p:nvPicPr>
          <p:cNvPr id="194" name="Google Shape;194;p35"/>
          <p:cNvPicPr preferRelativeResize="0"/>
          <p:nvPr/>
        </p:nvPicPr>
        <p:blipFill>
          <a:blip r:embed="rId3">
            <a:alphaModFix/>
          </a:blip>
          <a:stretch>
            <a:fillRect/>
          </a:stretch>
        </p:blipFill>
        <p:spPr>
          <a:xfrm>
            <a:off x="4955074" y="1585350"/>
            <a:ext cx="3082500" cy="1972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9" name="Shape 199"/>
        <p:cNvGrpSpPr/>
        <p:nvPr/>
      </p:nvGrpSpPr>
      <p:grpSpPr>
        <a:xfrm>
          <a:off x="0" y="0"/>
          <a:ext cx="0" cy="0"/>
          <a:chOff x="0" y="0"/>
          <a:chExt cx="0" cy="0"/>
        </a:xfrm>
      </p:grpSpPr>
      <p:sp>
        <p:nvSpPr>
          <p:cNvPr id="200" name="Google Shape;200;p36"/>
          <p:cNvSpPr txBox="1"/>
          <p:nvPr/>
        </p:nvSpPr>
        <p:spPr>
          <a:xfrm>
            <a:off x="2426625" y="2267700"/>
            <a:ext cx="4290900" cy="10929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Does information asymmetry determine market outcomes more than underlying event itself?</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t/>
            </a:r>
            <a:endParaRPr sz="1300">
              <a:solidFill>
                <a:schemeClr val="lt1"/>
              </a:solidFill>
              <a:latin typeface="EB Garamond Medium"/>
              <a:ea typeface="EB Garamond Medium"/>
              <a:cs typeface="EB Garamond Medium"/>
              <a:sym typeface="EB Garamond Medium"/>
            </a:endParaRPr>
          </a:p>
          <a:p>
            <a:pPr indent="0" lvl="0" marL="0" rtl="0" algn="ctr">
              <a:spcBef>
                <a:spcPts val="0"/>
              </a:spcBef>
              <a:spcAft>
                <a:spcPts val="0"/>
              </a:spcAft>
              <a:buNone/>
            </a:pPr>
            <a:r>
              <a:rPr lang="en" sz="1300">
                <a:solidFill>
                  <a:schemeClr val="lt1"/>
                </a:solidFill>
                <a:latin typeface="EB Garamond Medium"/>
                <a:ea typeface="EB Garamond Medium"/>
                <a:cs typeface="EB Garamond Medium"/>
                <a:sym typeface="EB Garamond Medium"/>
              </a:rPr>
              <a:t>At what point does the market stop reflecting the game and start determining it?</a:t>
            </a:r>
            <a:endParaRPr sz="1300">
              <a:solidFill>
                <a:schemeClr val="lt1"/>
              </a:solidFill>
              <a:latin typeface="EB Garamond Medium"/>
              <a:ea typeface="EB Garamond Medium"/>
              <a:cs typeface="EB Garamond Medium"/>
              <a:sym typeface="EB Garamond Medium"/>
            </a:endParaRPr>
          </a:p>
        </p:txBody>
      </p:sp>
      <p:sp>
        <p:nvSpPr>
          <p:cNvPr id="201" name="Google Shape;201;p36"/>
          <p:cNvSpPr txBox="1"/>
          <p:nvPr/>
        </p:nvSpPr>
        <p:spPr>
          <a:xfrm>
            <a:off x="3340500" y="1821438"/>
            <a:ext cx="2463000" cy="38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400">
                <a:solidFill>
                  <a:srgbClr val="EFEFEF"/>
                </a:solidFill>
                <a:latin typeface="EB Garamond"/>
                <a:ea typeface="EB Garamond"/>
                <a:cs typeface="EB Garamond"/>
                <a:sym typeface="EB Garamond"/>
              </a:rPr>
              <a:t>What am I asking?</a:t>
            </a:r>
            <a:endParaRPr b="1" sz="1400">
              <a:solidFill>
                <a:srgbClr val="EFEFEF"/>
              </a:solidFill>
              <a:latin typeface="EB Garamond"/>
              <a:ea typeface="EB Garamond"/>
              <a:cs typeface="EB Garamond"/>
              <a:sym typeface="EB Garamo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